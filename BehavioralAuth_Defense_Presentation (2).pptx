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.xml" ContentType="application/vnd.openxmlformats-officedocument.drawingml.chart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(%)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E0-4E44-88D6-6E1CECAF5501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E0-4E44-88D6-6E1CECAF5501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E0-4E44-88D6-6E1CECAF550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E0-4E44-88D6-6E1CECAF55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K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True Positive
(Human Detection)</c:v>
                </c:pt>
                <c:pt idx="1">
                  <c:v>True Negative
(Bot Detection)</c:v>
                </c:pt>
                <c:pt idx="2">
                  <c:v>False Acceptance
Rate (FAR)</c:v>
                </c:pt>
                <c:pt idx="3">
                  <c:v>False Rejection
Rate (FRR)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96.8</c:v>
                </c:pt>
                <c:pt idx="1">
                  <c:v>96.4</c:v>
                </c:pt>
                <c:pt idx="2">
                  <c:v>3.2</c:v>
                </c:pt>
                <c:pt idx="3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E0-4E44-88D6-6E1CECAF55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54-4342-94C9-7FC721724E5D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54-4342-94C9-7FC721724E5D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54-4342-94C9-7FC721724E5D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54-4342-94C9-7FC721724E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K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Human Detection</c:v>
                </c:pt>
                <c:pt idx="1">
                  <c:v>Bot/Script Detection</c:v>
                </c:pt>
                <c:pt idx="2">
                  <c:v>False Positives</c:v>
                </c:pt>
                <c:pt idx="3">
                  <c:v>False Negatives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95.9</c:v>
                </c:pt>
                <c:pt idx="1">
                  <c:v>94.2</c:v>
                </c:pt>
                <c:pt idx="2">
                  <c:v>5.8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54-4342-94C9-7FC721724E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14-4A6A-A965-FFBFB28FBA51}"/>
              </c:ext>
            </c:extLst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14-4A6A-A965-FFBFB28FBA51}"/>
              </c:ext>
            </c:extLst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14-4A6A-A965-FFBFB28FBA5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K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14-4A6A-A965-FFBFB28FBA5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K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14-4A6A-A965-FFBFB28FBA5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K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14-4A6A-A965-FFBFB28FBA5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r-K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Keystroke Detection</c:v>
                </c:pt>
                <c:pt idx="1">
                  <c:v>Kinematic Detection</c:v>
                </c:pt>
                <c:pt idx="2">
                  <c:v>Error Margin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96.8</c:v>
                </c:pt>
                <c:pt idx="1">
                  <c:v>95.9</c:v>
                </c:pt>
                <c:pt idx="2">
                  <c:v>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14-4A6A-A965-FFBFB28FB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24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18.jpeg"/><Relationship Id="rId4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chart" Target="../charts/char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0"/>
            <a:ext cx="3749040" cy="6858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11480"/>
            <a:ext cx="1920240" cy="1920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University for Science and Technology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2944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Artificial Intelligence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49640" y="3429000"/>
            <a:ext cx="3291840" cy="5943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34472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49640" y="36576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Ali Elsherbeni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9536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 / 2026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3474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77240" y="868680"/>
            <a:ext cx="7406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Continuous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Authentication System</a:t>
            </a:r>
            <a:endParaRPr lang="en-US" sz="2900" dirty="0"/>
          </a:p>
        </p:txBody>
      </p:sp>
      <p:sp>
        <p:nvSpPr>
          <p:cNvPr id="15" name="Text 11"/>
          <p:cNvSpPr/>
          <p:nvPr/>
        </p:nvSpPr>
        <p:spPr>
          <a:xfrm>
            <a:off x="777240" y="26060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Keyboard and Mouse Dynamics for Real-Time User Verification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7240" y="318211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Deterministic Credential Compromise via Keystroke Dynamics and Kinematic Analysis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43000" y="39319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Lujain Mustafa Kamel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4300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El-Shishtawy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2960" y="4443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43000" y="4443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Ashraf Wardento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22960" y="47000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143000" y="47000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Essam El-Saidy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143000" y="49560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 Hamada Abdallah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Fragility of Deterministic Authentication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430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43000"/>
            <a:ext cx="64008" cy="2377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527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Credential Vulnerability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1618488"/>
            <a:ext cx="344728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PINs are susceptible to brute-force, credential stuffing, and phishing — providing zero post-compromise protection.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11430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1143000"/>
            <a:ext cx="64008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2527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18888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Point-of-Entry Authentication Gap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416552" y="1618488"/>
            <a:ext cx="344728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authenticate only at login. Post-session hijacking and insider threats remain entirely undetected.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29600" y="1143000"/>
            <a:ext cx="3703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0" y="1143000"/>
            <a:ext cx="64008" cy="2377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25272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96528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Adversary Proliferation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394192" y="1618488"/>
            <a:ext cx="344728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and automated scripts can mimic human login behavior. Dynamic, continuous, non-intrusive verification is now essential.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65760" y="3703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proliferation of automated adversaries necessitates continuous intelligent behavioral verification throughout the entire user session.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74320" y="4370832"/>
            <a:ext cx="5577840" cy="228600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74320" y="4370832"/>
            <a:ext cx="55778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37083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Authentication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52120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 at login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= sole verification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Post-session: ZERO protection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attacks: undetectable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309360" y="4370832"/>
            <a:ext cx="5577840" cy="2286000"/>
          </a:xfrm>
          <a:prstGeom prst="rect">
            <a:avLst/>
          </a:prstGeom>
          <a:solidFill>
            <a:srgbClr val="F0FFF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09360" y="4370832"/>
            <a:ext cx="55778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309360" y="437083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Behavioral System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492240" y="4828032"/>
            <a:ext cx="52120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post-login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+ Mouse biometrics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hijacking: detected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automation: blocked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699761" y="510235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 of the Proposed Framework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continuous authentication architecture utilizing advanced behavioral biometrics.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quantify spatiotemporal features from keystroke dynamics and mouse kinematics.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Isolation Forest (unsupervised ML) to differentiate organic human variance from synthetic bot interactions.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high concurrency and data integrity via a robust asynchronous database architecture (SQLite via ORM).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&gt;94% anomaly detection accuracy with &lt;50ms inference latency per operation.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8600" y="2743200"/>
            <a:ext cx="2743200" cy="38862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3326130"/>
            <a:ext cx="2743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28600" y="5308092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Modalities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743200"/>
            <a:ext cx="2743200" cy="3886200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0" y="3326130"/>
            <a:ext cx="2743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&gt;94%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200400" y="5308092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2743200"/>
            <a:ext cx="2743200" cy="388620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326130"/>
            <a:ext cx="2743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172200" y="5308092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2743200"/>
            <a:ext cx="2743200" cy="3886200"/>
          </a:xfrm>
          <a:prstGeom prst="rect">
            <a:avLst/>
          </a:prstGeom>
          <a:solidFill>
            <a:srgbClr val="0D1B2A"/>
          </a:solidFill>
          <a:ln w="25400">
            <a:solidFill>
              <a:srgbClr val="90E0E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0" y="3326130"/>
            <a:ext cx="2743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9144000" y="5308092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Post-Login Guard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Boundaries and Operational Domain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070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188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1572768"/>
            <a:ext cx="36758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Web-centric environments with client-side asynchronous event tracking via modern browser APIs.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89120" y="109728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9120" y="1097280"/>
            <a:ext cx="64008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2070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6048" y="1188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Vectors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53712" y="1572768"/>
            <a:ext cx="36758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events (Dwell/Flight times) and multidimensional mouse trajectories — no physiological biometrics.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32461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3246120"/>
            <a:ext cx="64008" cy="1920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35584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3337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Readiness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38912" y="3721608"/>
            <a:ext cx="36758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Integrable high-availability API layer capable of interfacing with localized or distributed enterprise systems.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389120" y="32461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389120" y="3246120"/>
            <a:ext cx="64008" cy="1920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3355848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56048" y="3337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Exclusions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53712" y="3721608"/>
            <a:ext cx="36758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biometrics (facial/retinal recognition) are explicitly out of scope in this system version.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503920" y="1097280"/>
            <a:ext cx="338328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49640" y="1143000"/>
            <a:ext cx="3291840" cy="39776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503920" y="5166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Dashboard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Authentication via Behavioral Biometrics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The stochastic measurement of uniquely identifiable human interaction patterns — verifying identity implicitly without querying the user.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783080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8928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Dynamics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2258568"/>
            <a:ext cx="3447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neurophysiological rhythms inherent to a user's typing cadence — dwell time, flight time, digraph latency patterns.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51960" y="1783080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51960" y="1783080"/>
            <a:ext cx="64008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89280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18888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Footprinting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416552" y="2258568"/>
            <a:ext cx="3447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mouse speed, acceleration, and path linearity as distinct biometric signatures unique to each individual.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0" y="1783080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0" y="1783080"/>
            <a:ext cx="64008" cy="1920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89280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96528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Security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394192" y="2258568"/>
            <a:ext cx="3447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verification — user identity continuously confirmed in the background without any interaction overhead.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74320" y="3886200"/>
            <a:ext cx="11612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74320" y="388620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Traditional Methods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274320" y="4407408"/>
            <a:ext cx="2176272" cy="2240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407408"/>
            <a:ext cx="217627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Required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2651760" y="4407408"/>
            <a:ext cx="2176272" cy="2240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651760" y="4407408"/>
            <a:ext cx="217627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All-Session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029200" y="4407408"/>
            <a:ext cx="2176272" cy="22402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0" y="4407408"/>
            <a:ext cx="217627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to UX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7406640" y="4407408"/>
            <a:ext cx="2176272" cy="2240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06640" y="4407408"/>
            <a:ext cx="217627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Bot-Proof by Design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784080" y="4407408"/>
            <a:ext cx="2176272" cy="2240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784080" y="4407408"/>
            <a:ext cx="217627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Protection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Related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Context and Prior Empiricism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Monrose &amp; Rubin (2000)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foundational metrics for keystroke dwell and flight time variance in identity verification.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2304288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304288"/>
            <a:ext cx="64008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&amp; Traore (2007)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8072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Pioneered continuous authentication utilizing mouse dynamics and spatial heat mapping for behavioral profiling.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3511296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511296"/>
            <a:ext cx="64008" cy="1051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6027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Ting &amp; Zhou (2008)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01421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the efficacy of Isolation Forests for high-dimensional anomaly detection in behavioral data.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4718304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4718304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09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522122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both keystroke and kinematic modalities into a real-time, low-latency pipeline using modern scalable frameworks.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Architectural Topology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05840"/>
            <a:ext cx="11612880" cy="5577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Ecosystem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51560"/>
            <a:ext cx="2651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051560"/>
            <a:ext cx="265176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1645920"/>
            <a:ext cx="24688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 Mgmt)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Pipeline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Analytics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1051560"/>
            <a:ext cx="2651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51560"/>
            <a:ext cx="26517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46120" y="1645920"/>
            <a:ext cx="24688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0.109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Argon2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051560"/>
            <a:ext cx="2651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72200" y="1645920"/>
            <a:ext cx="24688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Pandas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Serialization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006840" y="1051560"/>
            <a:ext cx="2651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06840" y="1051560"/>
            <a:ext cx="265176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068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098280" y="1645920"/>
            <a:ext cx="24688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ORM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Primary Keys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Biometric Arrays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PostgreSQL Ready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Paradigm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Onboarding and Behavioral Profiling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97280"/>
            <a:ext cx="27432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Submission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004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password validated against schema constraints, checked for uniqueness, and accepted.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971800" y="26974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0" y="1097280"/>
            <a:ext cx="27432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8288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184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Hashing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9184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salted and hashed using Argon2 — resistant to GPU-accelerated brute-force attacks.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0" y="2697480"/>
            <a:ext cx="228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72200" y="1097280"/>
            <a:ext cx="27432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8288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364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Enrollment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6364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3 distinct keystroke samples captured to establish a statistically reliable behavioral baseline.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15400" y="2697480"/>
            <a:ext cx="22860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44000" y="1097280"/>
            <a:ext cx="27432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1440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18288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3544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Instantiation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23544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entity written to DB with UUID primary key. Audit log generated with IP and user-agent.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74320" y="4343400"/>
            <a:ext cx="1161288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4343400"/>
            <a:ext cx="11612880" cy="23317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4320" y="66842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Authentication rejected — Keystroke dynamics mismatch detected in real time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Login Protocol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97280"/>
            <a:ext cx="11247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verification cross-referenced with hashed database indices using constant-time comparison.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mitigation via rate limiting and deterministic account lockout after 5 consecutive failures.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JSON Web Tokens (JWT) issued for stateless, horizontally scalable session continuity.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session monitoring algorithms instantiated immediately upon successful authentication.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metadata recorded: IP address, user-agent string, and geo-timestamp for audit correlation.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" y="4297680"/>
            <a:ext cx="2743200" cy="2331720"/>
          </a:xfrm>
          <a:prstGeom prst="rect">
            <a:avLst/>
          </a:prstGeom>
          <a:solidFill>
            <a:srgbClr val="0D1B2A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4647438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Failures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28600" y="5836615"/>
            <a:ext cx="27432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4297680"/>
            <a:ext cx="2743200" cy="23317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0" y="4647438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200400" y="5836615"/>
            <a:ext cx="27432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4297680"/>
            <a:ext cx="2743200" cy="2331720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4647438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172200" y="5836615"/>
            <a:ext cx="27432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4297680"/>
            <a:ext cx="2743200" cy="233172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0" y="4647438"/>
            <a:ext cx="27432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9144000" y="5836615"/>
            <a:ext cx="27432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Pass Rate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&amp; Attack Surface Analysis — Mohamed El-Shishtawy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0515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Vectors Addressed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1508760"/>
            <a:ext cx="5943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7647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56362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/ Credential Stuffing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189280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+ 5-attempt lockout + Argon2 hashing with per-user salts.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496312"/>
            <a:ext cx="5943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7523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5117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28803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behavioral verification post-login detects takeover within seconds.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3483864"/>
            <a:ext cx="5943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73989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5387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/ Automated Attacks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2960" y="38679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analysis detects perfect linearity (Selenium/Puppeteer) with 100% sensitivity.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4471416"/>
            <a:ext cx="5943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7274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45262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485546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JWT tokens with short TTL prevent credential replay across sessions.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274320" y="5458968"/>
            <a:ext cx="5943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571500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960" y="55138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22960" y="584301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baseline divergence detected even for legitimate credentials used by wrong user.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492240" y="1051560"/>
            <a:ext cx="5486400" cy="5596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492240" y="11155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Architecture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675120" y="1572768"/>
            <a:ext cx="512064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675120" y="16093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Network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675120" y="1892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HTTPS/TLS, IP rate limiting, CORS policy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7040880" y="2359152"/>
            <a:ext cx="438912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040880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Authentication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040880" y="2679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hashing, JWT tokens, account lockout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7406640" y="3145536"/>
            <a:ext cx="365760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40664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Behavioral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40664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+ Mouse biometric verification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772400" y="3931920"/>
            <a:ext cx="2926080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772400" y="3968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Session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7724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monitoring, anomaly scoring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138160" y="4718304"/>
            <a:ext cx="219456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138160" y="4754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Audit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8138160" y="5038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logs, SIEM integration, alerts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Security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Engineering Decisions — Mohamed El-Shishtawy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51560"/>
            <a:ext cx="64008" cy="1783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1612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1527048"/>
            <a:ext cx="344728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KDF with per-user random salts. Resistant to GPU/ASIC brute-force. Configurable time/memory cost parameters for future hardening.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105156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105156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16128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18888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Authentication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416552" y="1527048"/>
            <a:ext cx="344728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ephemeral tokens (configurable TTL). HS256 signature. No server-side session storage — horizontally scalable by design.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29600" y="105156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0" y="1051560"/>
            <a:ext cx="64008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16128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96528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Entropy Layer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394192" y="1527048"/>
            <a:ext cx="344728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Second-factor derived from user behavior: 14D keystroke + 12D kinematic vectors provide cryptographically unique identity signatures.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74320" y="2944368"/>
            <a:ext cx="11612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294436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Properties Achieved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274320" y="3447288"/>
            <a:ext cx="11612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74320" y="3447288"/>
            <a:ext cx="54864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34472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60120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703320" y="3557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+ TLS encryption prevents credential exposure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74320" y="4078224"/>
            <a:ext cx="11612880" cy="59436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74320" y="4078224"/>
            <a:ext cx="54864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74320" y="407822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6012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703320" y="4187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HMAC signatures prevent token tampering and forgery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274320" y="4709160"/>
            <a:ext cx="11612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74320" y="4709160"/>
            <a:ext cx="54864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74320" y="47091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960120" y="4818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3703320" y="4818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prevents DoS; async processing prevents UI blocking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274320" y="5340096"/>
            <a:ext cx="11612880" cy="59436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74320" y="5340096"/>
            <a:ext cx="54864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74320" y="534009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960120" y="5449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3703320" y="5449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 with IP, timestamp, and behavioral hash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274320" y="5971032"/>
            <a:ext cx="11612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274320" y="5971032"/>
            <a:ext cx="54864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274320" y="59710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41"/>
          <p:cNvSpPr/>
          <p:nvPr/>
        </p:nvSpPr>
        <p:spPr>
          <a:xfrm>
            <a:off x="960120" y="6080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Auth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370332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Session-long behavioral verification — unique among standard systems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Dynamics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Keystroke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887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188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Capture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65760" y="16916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Micro-temporal variations inherent to a user's unique typing mechanics — the neurophysiological signature of how they type, not just what they type.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4320" y="2651760"/>
            <a:ext cx="58521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38912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between KeyDown → KeyUp for a single key press.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3749040"/>
            <a:ext cx="58521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38912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38912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between KeyUp of key N and KeyDown of subsequent key N+1.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4846320"/>
            <a:ext cx="58521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38912" y="4919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Digraph Statistics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38912" y="5303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standard deviation of consecutive key-pair transition latencies.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1051560"/>
            <a:ext cx="5394960" cy="5532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7960" y="1097280"/>
            <a:ext cx="5303520" cy="54406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6583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Status — Live Dashboard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14-Dimensional Keystroke Feature Vector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2651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Metrics (5D)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600200"/>
            <a:ext cx="24688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Dwell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Dwell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Dwell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Dwell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651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Metrics (4D)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1600200"/>
            <a:ext cx="24688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Flight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Flight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Flight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51560"/>
            <a:ext cx="2651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Metrics (3D)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1600200"/>
            <a:ext cx="24688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Keystroke 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Range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052560" y="1051560"/>
            <a:ext cx="2651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1051560"/>
            <a:ext cx="26517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5256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Digraph Metrics (2D)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1600200"/>
            <a:ext cx="24688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Key-Pair Mean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Key-Pair Std Dev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Biometric Enrollment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Normative Behavioral Baseline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7772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109728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9728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508760" y="1188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Ingestion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16002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samples collected until algorithmic convergence criteria are satisfied.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423160"/>
            <a:ext cx="7772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423160"/>
            <a:ext cx="109728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42316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508760" y="25146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Standardization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08760" y="29260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normalized via StandardScaler — zero mean, unit variance across all 14 dimensions.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749040"/>
            <a:ext cx="7772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749040"/>
            <a:ext cx="1097280" cy="11704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74904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508760" y="38404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Construction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08760" y="42519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Isolation Forest parameterized and fitted specifically for the individual user.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5074920"/>
            <a:ext cx="7772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5074920"/>
            <a:ext cx="1097280" cy="1170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507492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508760" y="5166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Serialization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508760" y="55778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weights serialized via Joblib and stored persistently in the SQLite database.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321040" y="1051560"/>
            <a:ext cx="3657600" cy="5486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66760" y="1097280"/>
            <a:ext cx="3566160" cy="53949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321040" y="6537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Analytics Dashboard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Verification Protocol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Verification and Confidence Scoring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97280"/>
            <a:ext cx="11247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extraction of keystroke telemetry during live user sessions — transparent to the user.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comparison against the user's serialized behavioral baseline profile in real time.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of a confidence coefficient ranging from 0.0 (anomalous) to 1.0 (confirmed human).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Sub-threshold scores (&lt; 0.7) trigger immediate heuristic security alerts for potential session compromise.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alert events asynchronously written to the immutable audit log for forensic review.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4297680"/>
            <a:ext cx="116128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Scale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4709160"/>
            <a:ext cx="365760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09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0.7  HIGH RISK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4709160"/>
            <a:ext cx="32004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4709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– 0.85  MEDIUM RISK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4709160"/>
            <a:ext cx="4754880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47091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– 1.0  LOW RISK / ALLOW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Behavior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Unobtrusive Behavioral Profiling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Differentiating human biomechanical movement from algorithmic bot trajectories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62763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627632"/>
            <a:ext cx="64008" cy="196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7373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Trajectory Capture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2103120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aggregation of mousemove, click, and scroll events into 10ms-throttled temporal windows.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46120" y="162763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46120" y="1627632"/>
            <a:ext cx="64008" cy="196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7373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13048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Processing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10712" y="2103120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processing executed on backend asynchronously to prevent frontend thread blocking.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162763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627632"/>
            <a:ext cx="64008" cy="1965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7373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4848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82512" y="2103120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12-dimensional feature vector extracted: velocity, path linearity, spatial precision, click clustering.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189720" y="1627632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89720" y="1627632"/>
            <a:ext cx="64008" cy="1965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7373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56648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Detection Logic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354312" y="2103120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detects perfect geometric linearity (Selenium/Puppeteer) — hallmark of automation.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74320" y="3730752"/>
            <a:ext cx="11612880" cy="2898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730752"/>
            <a:ext cx="11612880" cy="28986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74320" y="664768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Live Dashboard — Real-Time Mouse Heatmap &amp; Security Alerts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12-Dimensional Behavioral Feature Vector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26517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(3D)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600200"/>
            <a:ext cx="24688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Mouse Movements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Keystroke Events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Scroll Events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6517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(3D)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1600200"/>
            <a:ext cx="24688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Acceleration Variance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Consistency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Activity Frequency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51560"/>
            <a:ext cx="26517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Geometry (3D)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1600200"/>
            <a:ext cx="24688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Linearity Index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Coefficient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Change Rate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052560" y="1051560"/>
            <a:ext cx="26517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1051560"/>
            <a:ext cx="26517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52560" y="1106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Precision (3D)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1600200"/>
            <a:ext cx="24688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Clustering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Dispersion Coords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 Distribution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Path Linearity approaching 1.0 is a strong indicator of synthetic/bot traversal (e.g., Selenium, Puppeteer scripts)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Aggregation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2743200" cy="34290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81051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Buffering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281635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polling throttled at 10ms intervals. Optimizes memory and prevents UI thread saturation.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017520" y="2816352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46120" y="1097280"/>
            <a:ext cx="2743200" cy="3429000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8105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37560" y="281635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payloads serialized into structured JSON and transmitted asynchronously via REST.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89320" y="2816352"/>
            <a:ext cx="228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0" y="1097280"/>
            <a:ext cx="2743200" cy="342900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81051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Ingestion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09360" y="281635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normalized, feature vectors extracted, and fed immediately into the Isolation Forest engine.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61120" y="2816352"/>
            <a:ext cx="22860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89720" y="1097280"/>
            <a:ext cx="2743200" cy="34290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1897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181051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8116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Rendering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281160" y="281635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spatial heatmap rendered on admin dashboard from aggregated mouse trajectory data.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74320" y="4709160"/>
            <a:ext cx="1161288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0040" y="4754880"/>
            <a:ext cx="11521440" cy="18288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Behavior Analytics — Aggregated Mouse Heatmap with Security Scores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via Isolation Forest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887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070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Isolation Forest?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182880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for high-dimensional anomaly detection without requiring exhaustively labeled datasets.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partitions data — anomalies isolated closer to tree root due to their inherent deviation.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latency maintained below &lt;50ms per inferential operation at production load.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for balanced class distributions — ideal for rare intrusion events.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858000" y="1051560"/>
            <a:ext cx="5029200" cy="5577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Comparison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903720" y="1645920"/>
            <a:ext cx="1170432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40296" y="168249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92440" y="1645920"/>
            <a:ext cx="1170432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29016" y="168249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281160" y="1645920"/>
            <a:ext cx="1170432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317736" y="168249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Threats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0469880" y="1645920"/>
            <a:ext cx="1170432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506456" y="168249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903720" y="260604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0296" y="264261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92440" y="260604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29016" y="264261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9281160" y="260604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317736" y="264261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0469880" y="260604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506456" y="264261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903720" y="356616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40296" y="360273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92440" y="356616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129016" y="360273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9281160" y="356616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317736" y="360273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0469880" y="3566160"/>
            <a:ext cx="1170432" cy="914400"/>
          </a:xfrm>
          <a:prstGeom prst="rect">
            <a:avLst/>
          </a:prstGeom>
          <a:solidFill>
            <a:srgbClr val="19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506456" y="360273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903720" y="4526280"/>
            <a:ext cx="1170432" cy="914400"/>
          </a:xfrm>
          <a:prstGeom prst="rect">
            <a:avLst/>
          </a:prstGeom>
          <a:solidFill>
            <a:srgbClr val="1A3A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940296" y="456285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✓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8092440" y="4526280"/>
            <a:ext cx="1170432" cy="914400"/>
          </a:xfrm>
          <a:prstGeom prst="rect">
            <a:avLst/>
          </a:prstGeom>
          <a:solidFill>
            <a:srgbClr val="1A3A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29016" y="456285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9281160" y="4526280"/>
            <a:ext cx="1170432" cy="914400"/>
          </a:xfrm>
          <a:prstGeom prst="rect">
            <a:avLst/>
          </a:prstGeom>
          <a:solidFill>
            <a:srgbClr val="1A3A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317736" y="456285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10469880" y="4526280"/>
            <a:ext cx="1170432" cy="914400"/>
          </a:xfrm>
          <a:prstGeom prst="rect">
            <a:avLst/>
          </a:prstGeom>
          <a:solidFill>
            <a:srgbClr val="1A3A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0506456" y="456285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the ML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No pre-existing localized biometric data available upon system initialization.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6002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600200"/>
            <a:ext cx="64008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7099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Topology Simulation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2075688"/>
            <a:ext cx="2532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generator simulates distinct profiles (slow, average, fast typists) with natural biomechanical jitter.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46120" y="16002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46120" y="1600200"/>
            <a:ext cx="64008" cy="2011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7099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13048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Synthetic Generation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10712" y="2075688"/>
            <a:ext cx="2532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deterministic timing (zero variance) and linear paths hardcoded to train the model on absolute artificiality.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16002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600200"/>
            <a:ext cx="64008" cy="2011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70992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4848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Corpus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82512" y="2075688"/>
            <a:ext cx="2532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total algorithmic profiles: 500 synthetic human + 500 bot vectors for balanced day-zero training.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189720" y="16002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89720" y="1600200"/>
            <a:ext cx="64008" cy="20116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70992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56648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Criteria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354312" y="2075688"/>
            <a:ext cx="2532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automatically retrained as real user data accumulates — accuracy improves continuously over deployment lifetime.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74320" y="3794760"/>
            <a:ext cx="2743200" cy="28346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274320" y="4219956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30" name="Text 23"/>
          <p:cNvSpPr/>
          <p:nvPr/>
        </p:nvSpPr>
        <p:spPr>
          <a:xfrm>
            <a:off x="274320" y="566562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Human Profiles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246120" y="3794760"/>
            <a:ext cx="2743200" cy="2834640"/>
          </a:xfrm>
          <a:prstGeom prst="rect">
            <a:avLst/>
          </a:prstGeom>
          <a:solidFill>
            <a:srgbClr val="0D1B2A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3246120" y="4219956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33" name="Text 26"/>
          <p:cNvSpPr/>
          <p:nvPr/>
        </p:nvSpPr>
        <p:spPr>
          <a:xfrm>
            <a:off x="3246120" y="566562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/ Attack Vectors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17920" y="3794760"/>
            <a:ext cx="2743200" cy="2834640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217920" y="4219956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600" dirty="0"/>
          </a:p>
        </p:txBody>
      </p:sp>
      <p:sp>
        <p:nvSpPr>
          <p:cNvPr id="36" name="Text 29"/>
          <p:cNvSpPr/>
          <p:nvPr/>
        </p:nvSpPr>
        <p:spPr>
          <a:xfrm>
            <a:off x="6217920" y="566562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Corpus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189720" y="3794760"/>
            <a:ext cx="2743200" cy="283464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9189720" y="4219956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3600" dirty="0"/>
          </a:p>
        </p:txBody>
      </p:sp>
      <p:sp>
        <p:nvSpPr>
          <p:cNvPr id="39" name="Text 32"/>
          <p:cNvSpPr/>
          <p:nvPr/>
        </p:nvSpPr>
        <p:spPr>
          <a:xfrm>
            <a:off x="9189720" y="566562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Ready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Training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Model Lifecycle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43000"/>
            <a:ext cx="11612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43000"/>
            <a:ext cx="82296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1430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34440" y="1252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boot triggers automated database schema initialization and environment validation.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2148840"/>
            <a:ext cx="11612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48840"/>
            <a:ext cx="82296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1488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34440" y="22585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class instantiated with configured human/bot topologies and parameters.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3154680"/>
            <a:ext cx="11612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154680"/>
            <a:ext cx="822960" cy="8686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31546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234440" y="32644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vectors extracted, normalized via StandardScaler, and Isolation Forest fitted in memory.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4160520"/>
            <a:ext cx="11612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4160520"/>
            <a:ext cx="822960" cy="868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1605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234440" y="4270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globally accessible for day-zero threat detection prior to any user enrollment.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5166360"/>
            <a:ext cx="11612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5166360"/>
            <a:ext cx="822960" cy="8686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51663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234440" y="527608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continuously updated as real behavioral data accumulates — progressive accuracy improvement.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Results: Keystroke Dynamics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Efficacy — Keystroke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365760" y="1097280"/>
          <a:ext cx="68580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09728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498080" y="128656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498080" y="193011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Detection)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498080" y="251460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98080" y="270388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498080" y="334743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 Detection)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498080" y="393192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498080" y="412120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498080" y="476475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Acceptance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(FAR)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98080" y="534924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498080" y="553852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498080" y="618207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Operation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Results: Kinematic Behavior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Efficacy — Behavioral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365760" y="1097280"/>
          <a:ext cx="68580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09728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498080" y="128656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498080" y="193011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498080" y="251460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98080" y="270388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498080" y="334743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/ Script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498080" y="393192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498080" y="412120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498080" y="476475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Negative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98080" y="5349240"/>
            <a:ext cx="4389120" cy="1261872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498080" y="5538521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498080" y="6182076"/>
            <a:ext cx="43891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Mitigation &amp; Alert Logic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Alert Generation Engine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116128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1645920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97280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057400" y="1188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behavioral deviation — likely natural variation. Session continues with increased monitoring frequency.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57400" y="1810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Slight typing rhythm change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0" y="1536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 Integration Ready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468880"/>
            <a:ext cx="116128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468880"/>
            <a:ext cx="1645920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468880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57400" y="25603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anomaly — unusual interaction pattern outside normal variance bounds. Soft alert logged.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057400" y="3182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Velocity spike, unusual mouse trajectory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0" y="2907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 Integration Ready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840480"/>
            <a:ext cx="116128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840480"/>
            <a:ext cx="1645920" cy="1207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840480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057400" y="3931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anomaly — multiple concurrent deviations flagged. Secondary verification may be triggered.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057400" y="4553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Linear mouse path + keystroke_anomaly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14400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 Integration Ready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5212080"/>
            <a:ext cx="116128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5212080"/>
            <a:ext cx="1645920" cy="1207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5212080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057400" y="5303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Imminent threat confirmed. Account locked. Audit trail sealed. SIEM integration dispatched.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057400" y="5925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account_locked, linear_movement_detected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44000" y="5650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 Integration Ready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&amp; Topology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Modeling with SQLite &amp; SQLAlchemy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3703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37033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338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15544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UUID, Email, Argon2Hash, CreatedAt, IsLocked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097280"/>
            <a:ext cx="3703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097280"/>
            <a:ext cx="37033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11338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43400" y="15544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UUID, UserID, JWT, IPAddress, UserAgent, IsActive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1097280"/>
            <a:ext cx="3703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0" y="1097280"/>
            <a:ext cx="370332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11338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KeystrokeProfiles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21040" y="15544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FeatureVector (JSON), BaselineModel, UpdatedAt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606040"/>
            <a:ext cx="3703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606040"/>
            <a:ext cx="370332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6426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BehaviorProfiles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30632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MouseFeatures (JSON), ScrollFeatures, Score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51960" y="2606040"/>
            <a:ext cx="3703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51960" y="2606040"/>
            <a:ext cx="370332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43400" y="26426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SecurityAlerts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343400" y="30632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AlertID, UserID, Severity, AlertType, Timestamp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0" y="2606040"/>
            <a:ext cx="3703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229600" y="2606040"/>
            <a:ext cx="370332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26426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321040" y="30632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LogID, UserID, Action, IPAddress, Timestamp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2519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enables async transactions and zero-refactor migration to PostgreSQL for enterprise scale.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JSON for efficient multi-dimensional biometric array queries.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 enforced for rigorous referential integrity.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primary keys prevent enumeration attacks and support distributed deployments.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Backend Endpoints — FastAPI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11612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868680" cy="8046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972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98448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/api/v1/auth/register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98448" y="14996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with Argon2 hashing, UUID generation, and initial audit log creation.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011680"/>
            <a:ext cx="11612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011680"/>
            <a:ext cx="86868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0116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98448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/api/v1/auth/login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98448" y="24140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verification, JWT issuance, session instantiation, and security metadata recording.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2926080"/>
            <a:ext cx="11612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26080"/>
            <a:ext cx="86868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9260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98448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/api/v1/keystroke/sample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98448" y="33284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payload ingestion: raw timing data → feature extraction → Isolation Forest scoring.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840480"/>
            <a:ext cx="11612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840480"/>
            <a:ext cx="86868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8404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98448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/api/v1/keystroke/verify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298448" y="42428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comparison against baseline profile with confidence coefficient response (0.0–1.0).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" y="4754880"/>
            <a:ext cx="11612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4754880"/>
            <a:ext cx="868680" cy="8046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7548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298448" y="4828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/api/v1/behavior/analyze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298448" y="51572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of kinematic telemetry windows: mouse + keyboard + scroll features.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74320" y="5669280"/>
            <a:ext cx="11612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5669280"/>
            <a:ext cx="868680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56692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298448" y="5742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/api/v1/admin/alerts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298448" y="60716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endpoint: graded security alerts with full audit context and SIEM export.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&amp; User Interfaces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Heuristic Visualizations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57607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1143000"/>
            <a:ext cx="5669280" cy="2331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347472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Keystroke Rejection Alert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63640" y="1097280"/>
            <a:ext cx="57607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1143000"/>
            <a:ext cx="5669280" cy="2331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63640" y="347472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Analytics — Mouse Heatmap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3858768"/>
            <a:ext cx="57607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0040" y="3904488"/>
            <a:ext cx="5669280" cy="23317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4320" y="6236208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Security Monitoring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63640" y="3858768"/>
            <a:ext cx="57607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09360" y="3904488"/>
            <a:ext cx="5669280" cy="23317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63640" y="6236208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Status &amp; Risk Timeline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Validation &amp;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Verification and Quality Assurance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64008" cy="3200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070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(E2E) Testing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1572768"/>
            <a:ext cx="253288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lifecycle tested deterministically: Registration → Enrollment → Organic Session → Attack Vector Simulation.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09728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097280"/>
            <a:ext cx="6400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2070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130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Unit Tests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10712" y="1572768"/>
            <a:ext cx="253288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hashing, JWT issuance/validation, and session token expiry verified under all boundary conditions.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17920" y="109728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1097280"/>
            <a:ext cx="64008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20700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848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Precision Tests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82512" y="1572768"/>
            <a:ext cx="253288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confidence coefficients validated against known human and bot behavioral datasets.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189720" y="109728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89720" y="1097280"/>
            <a:ext cx="64008" cy="3200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207008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566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Verification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354312" y="1572768"/>
            <a:ext cx="253288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alert severity tiers triggered and correctly classified under controlled test conditions.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74320" y="4480560"/>
            <a:ext cx="5303520" cy="214884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274320" y="4802886"/>
            <a:ext cx="530352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9" name="Text 22"/>
          <p:cNvSpPr/>
          <p:nvPr/>
        </p:nvSpPr>
        <p:spPr>
          <a:xfrm>
            <a:off x="274320" y="5898794"/>
            <a:ext cx="530352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Passage Rate Across 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Functional Requirements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989320" y="4480560"/>
            <a:ext cx="5897880" cy="2148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5989320" y="4802886"/>
            <a:ext cx="589788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</a:t>
            </a:r>
            <a:endParaRPr lang="en-US" sz="3600" dirty="0"/>
          </a:p>
        </p:txBody>
      </p:sp>
      <p:sp>
        <p:nvSpPr>
          <p:cNvPr id="32" name="Text 25"/>
          <p:cNvSpPr/>
          <p:nvPr/>
        </p:nvSpPr>
        <p:spPr>
          <a:xfrm>
            <a:off x="5989320" y="5898794"/>
            <a:ext cx="58978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Severity Levels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Verified and Production-Ready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Specifications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Configuration &amp; Containerization Readiness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64008" cy="338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070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1572768"/>
            <a:ext cx="25328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 optimized for high-throughput async execution. Secrets managed via .env configuration.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09728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097280"/>
            <a:ext cx="64008" cy="3383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2070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130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Pipeline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10712" y="1572768"/>
            <a:ext cx="25328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Vite-optimized production build. TypeScript strict checking. Tree-shaking for minimal bundle footprint.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17920" y="109728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1097280"/>
            <a:ext cx="64008" cy="3383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20700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848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Configuration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82512" y="1572768"/>
            <a:ext cx="25328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development. ORM layer ensures zero-refactor migration path to PostgreSQL at enterprise scale.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189720" y="109728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89720" y="1097280"/>
            <a:ext cx="64008" cy="33832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207008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5664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Ready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354312" y="1572768"/>
            <a:ext cx="25328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decoupled architecture primed for Docker containerization and Kubernetes orchestration at cloud scale.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DB_URI, CRYPTO_SALT, SCORING_THRESHOLDS — all externalized via .env for secure deployment.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Inherently stateless, horizontally scalable — each service independently deployable without shared state.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Limitations &amp; Future Trajectories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and Proposed Research Extensions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91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353312"/>
            <a:ext cx="5577840" cy="118872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4173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dimensionality in Isolation Forest: extreme erratic behavior under emotional stress may inflate FRR, temporarily misclassifying legitimate users.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7249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Roadmap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4320" y="3090672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2004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" y="3172968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LSTM/GRU deep learning for sequential temporal keystroke analysis.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767328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87705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3849624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 for distributed enterprise-scale deployment.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4443984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455371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4526280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MFA (OTP + biometrics) as supplementary verification layer.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74320" y="5120640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523036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7824" y="5202936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containerized microservices architecture.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74320" y="5797296"/>
            <a:ext cx="5486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5907024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7824" y="5879592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with advanced threat intelligence reporting and alerting.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400800" y="1051560"/>
            <a:ext cx="5577840" cy="5577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400800" y="114300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4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6492240" y="1554480"/>
          <a:ext cx="5394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9" name="Text 2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2860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743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Concluding Remarks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6583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105156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8836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82880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mitigated static authentication vulnerabilities through a continuous behavioral biometric overlay.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2487168"/>
            <a:ext cx="105156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63347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4752" y="2578608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&gt;94% anomaly detection accuracy achieved across both keystroke and kinematic models simultaneously.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22960" y="3236976"/>
            <a:ext cx="105156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38328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44752" y="3328416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 (Isolation Forest) enables adaptive evolving threat detection without labeled training data.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22960" y="3986784"/>
            <a:ext cx="105156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133088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44752" y="407822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decoupled architecture ready for Docker, Kubernetes, and enterprise cloud deployment.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22960" y="4736592"/>
            <a:ext cx="105156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4882896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44752" y="4828032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Zero-friction, user-transparent security layer — no UX degradation, no explicit user interaction required.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822960" y="6309360"/>
            <a:ext cx="68580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22960" y="6309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Open for Questions  —  Q &amp; A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7863840" y="6309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2025/2026  |  Delta University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2985</Words>
  <Application>Microsoft Office PowerPoint</Application>
  <PresentationFormat>Widescreen</PresentationFormat>
  <Paragraphs>554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Hybrid Continuous Behavioral Authentication System</dc:title>
  <dc:subject>PptxGenJS Presentation</dc:subject>
  <dc:creator>PptxGenJS</dc:creator>
  <cp:lastModifiedBy>محمد الششتاوي</cp:lastModifiedBy>
  <cp:revision>2</cp:revision>
  <dcterms:created xsi:type="dcterms:W3CDTF">2026-05-08T21:51:36Z</dcterms:created>
  <dcterms:modified xsi:type="dcterms:W3CDTF">2026-05-08T21:57:33Z</dcterms:modified>
</cp:coreProperties>
</file>